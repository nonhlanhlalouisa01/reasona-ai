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457" r:id="rId3"/>
    <p:sldId id="659" r:id="rId4"/>
    <p:sldId id="86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2D8CAF-2267-4925-896B-552930F52B67}" v="3" dt="2026-09-30T09:55:23.997"/>
    <p1510:client id="{A3BE1A44-A629-488D-9831-A07108A1D626}" v="3" dt="2026-09-30T10:03:00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144DA-2E5E-4D39-A154-92EE8474186F}" type="datetimeFigureOut"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5B831-1607-4066-81EF-6973AAA9D0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9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REASONA AI is a standalone, evidence-first Customer Engagement Intelligence Agent designed to run on Microsoft Azure - a psychology-informed engagement assistant for sales and customer-facing teams. The agent is the product; a small React web client exists only to demo and test it. Open on the hook: you presented, they listened - but did it land?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5B831-1607-4066-81EF-6973AAA9D0DF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64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Frame the problem as the gap between the intended message and conversation reality. The signals - recurring questions, clarification points, unresolved objections - are observable in the room but are not captured or acted on, so the next engagement repeats the same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5B831-1607-4066-81EF-6973AAA9D0D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226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REASONA compares the intended message with the actual conversation, connects observable patterns to relevant research, and prepares a better next engagement. The agent is the product; the React web client exists only to demo and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5B831-1607-4066-81EF-6973AAA9D0D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42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on responsible design: only authorised, observable meeting information is analysed; no inference of emotion, personality, honesty, intelligence, competence, hidden intention, mental health or employee performance; significant claims require traceable evidence and an explicit limitation; a human remains responsible for decisions and external actions. Note that the demo scenario and all demo data are synthetic and clearly labelled. Close on the tagline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5B831-1607-4066-81EF-6973AAA9D0DF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76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Title">
            <a:extLst>
              <a:ext uri="{FF2B5EF4-FFF2-40B4-BE49-F238E27FC236}">
                <a16:creationId xmlns:a16="http://schemas.microsoft.com/office/drawing/2014/main" id="{2E9440A4-6ADD-FFFA-6E50-C5192B2102B4}"/>
              </a:ext>
            </a:extLst>
          </p:cNvPr>
          <p:cNvSpPr/>
          <p:nvPr/>
        </p:nvSpPr>
        <p:spPr>
          <a:xfrm>
            <a:off x="914400" y="1620000"/>
            <a:ext cx="6100000" cy="11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6000" b="1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REASONA AI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367A31-3536-FE41-904A-AFDBA2FE280E}"/>
              </a:ext>
            </a:extLst>
          </p:cNvPr>
          <p:cNvSpPr/>
          <p:nvPr/>
        </p:nvSpPr>
        <p:spPr>
          <a:xfrm>
            <a:off x="914400" y="1150000"/>
            <a:ext cx="61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200">
                <a:solidFill>
                  <a:srgbClr val="2FD1B5"/>
                </a:solidFill>
                <a:effectLst/>
                <a:latin typeface="Calibri" panose="020F0502020204030204" pitchFamily="34" charset="0"/>
              </a:rPr>
              <a:t>MEA AGENTIC FRONTIER CUP  ·  PITCH, 30 SEPTEMBER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A0744F-CB44-8B09-F339-44900F259886}"/>
              </a:ext>
            </a:extLst>
          </p:cNvPr>
          <p:cNvSpPr/>
          <p:nvPr/>
        </p:nvSpPr>
        <p:spPr>
          <a:xfrm>
            <a:off x="914400" y="2830000"/>
            <a:ext cx="6100000" cy="4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A9B6D9"/>
                </a:solidFill>
                <a:effectLst/>
                <a:latin typeface="Calibri" panose="020F0502020204030204" pitchFamily="34" charset="0"/>
              </a:rPr>
              <a:t>Customer Engagement Intelligence Agent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F9775D-BC93-2D5C-1FC6-0603E9BF2169}"/>
              </a:ext>
            </a:extLst>
          </p:cNvPr>
          <p:cNvSpPr/>
          <p:nvPr/>
        </p:nvSpPr>
        <p:spPr>
          <a:xfrm>
            <a:off x="914400" y="3480000"/>
            <a:ext cx="900000" cy="25400"/>
          </a:xfrm>
          <a:prstGeom prst="rect">
            <a:avLst/>
          </a:prstGeom>
          <a:solidFill>
            <a:srgbClr val="2FD1B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BC0446-89CD-79A5-27FB-DCAFD6B036CE}"/>
              </a:ext>
            </a:extLst>
          </p:cNvPr>
          <p:cNvSpPr/>
          <p:nvPr/>
        </p:nvSpPr>
        <p:spPr>
          <a:xfrm>
            <a:off x="914400" y="3700000"/>
            <a:ext cx="6100000" cy="8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 i="1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You presented. They listened.</a:t>
            </a:r>
          </a:p>
          <a:p>
            <a:pPr algn="l">
              <a:buNone/>
            </a:pPr>
            <a:r>
              <a:rPr lang="en-US" sz="2000" i="1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But did it land?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D50EA5-9ADB-8726-AECA-5883E03C167F}"/>
              </a:ext>
            </a:extLst>
          </p:cNvPr>
          <p:cNvSpPr/>
          <p:nvPr/>
        </p:nvSpPr>
        <p:spPr>
          <a:xfrm>
            <a:off x="914400" y="5330000"/>
            <a:ext cx="61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Louisa Nonhlanhla Thipe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9D165E-F87C-906B-56AF-B9788A79BBCD}"/>
              </a:ext>
            </a:extLst>
          </p:cNvPr>
          <p:cNvSpPr/>
          <p:nvPr/>
        </p:nvSpPr>
        <p:spPr>
          <a:xfrm>
            <a:off x="914400" y="5750000"/>
            <a:ext cx="61000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A9B6D9"/>
                </a:solidFill>
                <a:effectLst/>
                <a:latin typeface="Calibri" panose="020F0502020204030204" pitchFamily="34" charset="0"/>
              </a:rPr>
              <a:t>Business Program Manager Intern  ·  Microsoft South Africa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A6060F8-B524-40B0-43E8-FC635F533560}"/>
              </a:ext>
            </a:extLst>
          </p:cNvPr>
          <p:cNvSpPr/>
          <p:nvPr/>
        </p:nvSpPr>
        <p:spPr>
          <a:xfrm>
            <a:off x="914400" y="640000"/>
            <a:ext cx="80000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200">
                <a:solidFill>
                  <a:srgbClr val="0E8C7A"/>
                </a:solidFill>
                <a:effectLst/>
                <a:latin typeface="Calibri" panose="020F0502020204030204" pitchFamily="34" charset="0"/>
              </a:rPr>
              <a:t>THE PROBLEM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B65FEE-5E82-5D4F-040B-83E1F4EFB44E}"/>
              </a:ext>
            </a:extLst>
          </p:cNvPr>
          <p:cNvSpPr/>
          <p:nvPr/>
        </p:nvSpPr>
        <p:spPr>
          <a:xfrm>
            <a:off x="914400" y="1020000"/>
            <a:ext cx="9000000" cy="7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300" b="1">
                <a:solidFill>
                  <a:srgbClr val="12203F"/>
                </a:solidFill>
                <a:effectLst/>
                <a:latin typeface="Georgia" panose="02040502050405020303" pitchFamily="18" charset="0"/>
              </a:rPr>
              <a:t>Intended message vs conversation reality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497F50-CAE6-B8DC-C50F-560297149254}"/>
              </a:ext>
            </a:extLst>
          </p:cNvPr>
          <p:cNvSpPr/>
          <p:nvPr/>
        </p:nvSpPr>
        <p:spPr>
          <a:xfrm>
            <a:off x="914400" y="1900000"/>
            <a:ext cx="6700000" cy="8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500">
                <a:solidFill>
                  <a:srgbClr val="3C4766"/>
                </a:solidFill>
                <a:effectLst/>
                <a:latin typeface="Calibri" panose="020F0502020204030204" pitchFamily="34" charset="0"/>
              </a:rPr>
              <a:t>Customer-facing professionals leave a meeting without knowing whether the message they intended to deliver is the conversation that actually occurred.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FC5DB5-DF13-C171-F206-97E29E19AD8F}"/>
              </a:ext>
            </a:extLst>
          </p:cNvPr>
          <p:cNvSpPr/>
          <p:nvPr/>
        </p:nvSpPr>
        <p:spPr>
          <a:xfrm>
            <a:off x="914400" y="3000000"/>
            <a:ext cx="480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101600" dist="25400" dir="5400000" algn="ctr" rotWithShape="0">
              <a:srgbClr val="1220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8398C6F-86BD-BBF8-3F9E-E23793BAB0FB}"/>
              </a:ext>
            </a:extLst>
          </p:cNvPr>
          <p:cNvSpPr/>
          <p:nvPr/>
        </p:nvSpPr>
        <p:spPr>
          <a:xfrm>
            <a:off x="1214400" y="3250000"/>
            <a:ext cx="42000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200">
                <a:solidFill>
                  <a:srgbClr val="5A6690"/>
                </a:solidFill>
                <a:effectLst/>
                <a:latin typeface="Calibri" panose="020F0502020204030204" pitchFamily="34" charset="0"/>
              </a:rPr>
              <a:t>INTENDED MESSAGE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395ABCD-2FF3-3878-92DD-777D04C9B57A}"/>
              </a:ext>
            </a:extLst>
          </p:cNvPr>
          <p:cNvSpPr/>
          <p:nvPr/>
        </p:nvSpPr>
        <p:spPr>
          <a:xfrm>
            <a:off x="1214400" y="3640000"/>
            <a:ext cx="4200000" cy="6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What the professional planned to land in the room.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E529170-2095-944D-D639-FC4822CEEC77}"/>
              </a:ext>
            </a:extLst>
          </p:cNvPr>
          <p:cNvSpPr/>
          <p:nvPr/>
        </p:nvSpPr>
        <p:spPr>
          <a:xfrm>
            <a:off x="6477600" y="3000000"/>
            <a:ext cx="4800000" cy="1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8C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2A20BC3-9B71-416C-74B1-DF657DB0E0EA}"/>
              </a:ext>
            </a:extLst>
          </p:cNvPr>
          <p:cNvSpPr/>
          <p:nvPr/>
        </p:nvSpPr>
        <p:spPr>
          <a:xfrm>
            <a:off x="6777600" y="3250000"/>
            <a:ext cx="42000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200">
                <a:solidFill>
                  <a:srgbClr val="5A6690"/>
                </a:solidFill>
                <a:effectLst/>
                <a:latin typeface="Calibri" panose="020F0502020204030204" pitchFamily="34" charset="0"/>
              </a:rPr>
              <a:t>CONVERSATION REALITY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C8D1270-2365-262C-2FD5-35E1A9354E2F}"/>
              </a:ext>
            </a:extLst>
          </p:cNvPr>
          <p:cNvSpPr/>
          <p:nvPr/>
        </p:nvSpPr>
        <p:spPr>
          <a:xfrm>
            <a:off x="6777600" y="3640000"/>
            <a:ext cx="4200000" cy="6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What the customer actually raised, repeated and left unresolved.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8" name="Arrow: Left-Right 77">
            <a:extLst>
              <a:ext uri="{FF2B5EF4-FFF2-40B4-BE49-F238E27FC236}">
                <a16:creationId xmlns:a16="http://schemas.microsoft.com/office/drawing/2014/main" id="{00428292-DD35-DE4B-533C-8A0215354FBB}"/>
              </a:ext>
            </a:extLst>
          </p:cNvPr>
          <p:cNvSpPr/>
          <p:nvPr/>
        </p:nvSpPr>
        <p:spPr>
          <a:xfrm>
            <a:off x="5790000" y="3600000"/>
            <a:ext cx="610000" cy="300000"/>
          </a:xfrm>
          <a:prstGeom prst="leftRightArrow">
            <a:avLst/>
          </a:prstGeom>
          <a:solidFill>
            <a:srgbClr val="0E8C7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960F8C8-B67F-CD3A-5DC8-A30F13E59D52}"/>
              </a:ext>
            </a:extLst>
          </p:cNvPr>
          <p:cNvSpPr/>
          <p:nvPr/>
        </p:nvSpPr>
        <p:spPr>
          <a:xfrm>
            <a:off x="914400" y="4720000"/>
            <a:ext cx="103632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200">
                <a:solidFill>
                  <a:srgbClr val="5A6690"/>
                </a:solidFill>
                <a:effectLst/>
                <a:latin typeface="Calibri" panose="020F0502020204030204" pitchFamily="34" charset="0"/>
              </a:rPr>
              <a:t>OBSERVABLE SIGNALS — VISIBLE IN THE ROOM, NOT CAPTURED AFTERWARDS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66DA1D1-C952-2DAF-112D-F5F1575F2F5A}"/>
              </a:ext>
            </a:extLst>
          </p:cNvPr>
          <p:cNvSpPr/>
          <p:nvPr/>
        </p:nvSpPr>
        <p:spPr>
          <a:xfrm>
            <a:off x="914400" y="5130000"/>
            <a:ext cx="3352800" cy="560000"/>
          </a:xfrm>
          <a:prstGeom prst="rect">
            <a:avLst/>
          </a:prstGeom>
          <a:solidFill>
            <a:srgbClr val="E4EAF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Recurring questions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71358F0-93CB-2F50-D275-21448E0AEF1E}"/>
              </a:ext>
            </a:extLst>
          </p:cNvPr>
          <p:cNvSpPr/>
          <p:nvPr/>
        </p:nvSpPr>
        <p:spPr>
          <a:xfrm>
            <a:off x="4648200" y="5130000"/>
            <a:ext cx="3352800" cy="560000"/>
          </a:xfrm>
          <a:prstGeom prst="rect">
            <a:avLst/>
          </a:prstGeom>
          <a:solidFill>
            <a:srgbClr val="E4EAF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Clarification points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3F2D60E-8BF5-4FC0-5764-7256977C6060}"/>
              </a:ext>
            </a:extLst>
          </p:cNvPr>
          <p:cNvSpPr/>
          <p:nvPr/>
        </p:nvSpPr>
        <p:spPr>
          <a:xfrm>
            <a:off x="8382000" y="5130000"/>
            <a:ext cx="3352800" cy="560000"/>
          </a:xfrm>
          <a:prstGeom prst="rect">
            <a:avLst/>
          </a:prstGeom>
          <a:solidFill>
            <a:srgbClr val="E4EAF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Unresolved objections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8D441E0-C19E-125D-2215-E6C75D0FBF08}"/>
              </a:ext>
            </a:extLst>
          </p:cNvPr>
          <p:cNvSpPr/>
          <p:nvPr/>
        </p:nvSpPr>
        <p:spPr>
          <a:xfrm>
            <a:off x="914400" y="5810000"/>
            <a:ext cx="10363200" cy="3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 i="1">
                <a:solidFill>
                  <a:srgbClr val="3C4766"/>
                </a:solidFill>
                <a:effectLst/>
                <a:latin typeface="Calibri" panose="020F0502020204030204" pitchFamily="34" charset="0"/>
              </a:rPr>
              <a:t>Nothing captures them, so the next engagement repeats the same gaps.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233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43">
            <a:extLst>
              <a:ext uri="{FF2B5EF4-FFF2-40B4-BE49-F238E27FC236}">
                <a16:creationId xmlns:a16="http://schemas.microsoft.com/office/drawing/2014/main" id="{6006A0FE-D532-F6A4-631A-323E48F56E95}"/>
              </a:ext>
            </a:extLst>
          </p:cNvPr>
          <p:cNvSpPr/>
          <p:nvPr/>
        </p:nvSpPr>
        <p:spPr>
          <a:xfrm>
            <a:off x="914400" y="640000"/>
            <a:ext cx="80000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200">
                <a:solidFill>
                  <a:srgbClr val="0E8C7A"/>
                </a:solidFill>
                <a:effectLst/>
                <a:latin typeface="Calibri" panose="020F0502020204030204" pitchFamily="34" charset="0"/>
              </a:rPr>
              <a:t>THE SOLUTION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AEBE74DD-D0C0-1DC0-AAB5-5FDD1EA367EC}"/>
              </a:ext>
            </a:extLst>
          </p:cNvPr>
          <p:cNvSpPr/>
          <p:nvPr/>
        </p:nvSpPr>
        <p:spPr>
          <a:xfrm>
            <a:off x="914400" y="1020000"/>
            <a:ext cx="9600000" cy="9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300" b="1">
                <a:solidFill>
                  <a:srgbClr val="12203F"/>
                </a:solidFill>
                <a:effectLst/>
                <a:latin typeface="Georgia" panose="02040502050405020303" pitchFamily="18" charset="0"/>
              </a:rPr>
              <a:t>Compare, connect, prepare the next conversation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E2CEE968-C1C4-1046-DC25-5088C33F888D}"/>
              </a:ext>
            </a:extLst>
          </p:cNvPr>
          <p:cNvSpPr/>
          <p:nvPr/>
        </p:nvSpPr>
        <p:spPr>
          <a:xfrm>
            <a:off x="914400" y="1980000"/>
            <a:ext cx="3352800" cy="193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101600" dist="25400" dir="5400000" algn="ctr" rotWithShape="0">
              <a:srgbClr val="1220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DC6E8C2-BCCD-385C-8149-5B255B04453C}"/>
              </a:ext>
            </a:extLst>
          </p:cNvPr>
          <p:cNvSpPr/>
          <p:nvPr/>
        </p:nvSpPr>
        <p:spPr>
          <a:xfrm>
            <a:off x="1164400" y="2170000"/>
            <a:ext cx="2852800" cy="39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 b="1">
                <a:solidFill>
                  <a:srgbClr val="0E8C7A"/>
                </a:solidFill>
                <a:effectLst/>
                <a:latin typeface="Georgia" panose="02040502050405020303" pitchFamily="18" charset="0"/>
              </a:rPr>
              <a:t>01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81986BF-6B92-7E2C-87EA-30437848F60B}"/>
              </a:ext>
            </a:extLst>
          </p:cNvPr>
          <p:cNvSpPr/>
          <p:nvPr/>
        </p:nvSpPr>
        <p:spPr>
          <a:xfrm>
            <a:off x="1164400" y="2560000"/>
            <a:ext cx="28528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 b="1" spc="2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COMPARE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CCF79BF-9317-464D-0F81-1AC45B9EFF6A}"/>
              </a:ext>
            </a:extLst>
          </p:cNvPr>
          <p:cNvSpPr/>
          <p:nvPr/>
        </p:nvSpPr>
        <p:spPr>
          <a:xfrm>
            <a:off x="1164400" y="2920000"/>
            <a:ext cx="28528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3C4766"/>
                </a:solidFill>
                <a:effectLst/>
                <a:latin typeface="Calibri" panose="020F0502020204030204" pitchFamily="34" charset="0"/>
              </a:rPr>
              <a:t>Meeting Mirror sets the intended message against conversation reality, evidence-linked.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AC31EF2-749F-BCC4-D4A3-4E14EE80B71D}"/>
              </a:ext>
            </a:extLst>
          </p:cNvPr>
          <p:cNvSpPr/>
          <p:nvPr/>
        </p:nvSpPr>
        <p:spPr>
          <a:xfrm>
            <a:off x="4648200" y="1980000"/>
            <a:ext cx="3352800" cy="193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blurRad="101600" dist="25400" dir="5400000" algn="ctr" rotWithShape="0">
              <a:srgbClr val="12203F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6A1A6F18-124E-E628-AAD5-4CCE4878A5C4}"/>
              </a:ext>
            </a:extLst>
          </p:cNvPr>
          <p:cNvSpPr/>
          <p:nvPr/>
        </p:nvSpPr>
        <p:spPr>
          <a:xfrm>
            <a:off x="4898200" y="2170000"/>
            <a:ext cx="2852800" cy="39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 b="1">
                <a:solidFill>
                  <a:srgbClr val="0E8C7A"/>
                </a:solidFill>
                <a:effectLst/>
                <a:latin typeface="Georgia" panose="02040502050405020303" pitchFamily="18" charset="0"/>
              </a:rPr>
              <a:t>02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E21D2982-3531-1E32-CA70-8E442564EB25}"/>
              </a:ext>
            </a:extLst>
          </p:cNvPr>
          <p:cNvSpPr/>
          <p:nvPr/>
        </p:nvSpPr>
        <p:spPr>
          <a:xfrm>
            <a:off x="4898200" y="2560000"/>
            <a:ext cx="28528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 b="1" spc="2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CONNECT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20BD95B9-3F82-E305-EC32-CE767136C3DE}"/>
              </a:ext>
            </a:extLst>
          </p:cNvPr>
          <p:cNvSpPr/>
          <p:nvPr/>
        </p:nvSpPr>
        <p:spPr>
          <a:xfrm>
            <a:off x="4898200" y="2920000"/>
            <a:ext cx="28528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3C4766"/>
                </a:solidFill>
                <a:effectLst/>
                <a:latin typeface="Calibri" panose="020F0502020204030204" pitchFamily="34" charset="0"/>
              </a:rPr>
              <a:t>Observable patterns meet psychology-informed research prompts — no diagnosis, no profiling.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4DC66629-17DC-5FF9-083E-635F2C4445F9}"/>
              </a:ext>
            </a:extLst>
          </p:cNvPr>
          <p:cNvSpPr/>
          <p:nvPr/>
        </p:nvSpPr>
        <p:spPr>
          <a:xfrm>
            <a:off x="8382000" y="1980000"/>
            <a:ext cx="3352800" cy="193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8C7A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77B0E2-4F4E-5910-E4C3-F7866E693234}"/>
              </a:ext>
            </a:extLst>
          </p:cNvPr>
          <p:cNvSpPr/>
          <p:nvPr/>
        </p:nvSpPr>
        <p:spPr>
          <a:xfrm>
            <a:off x="8632000" y="2170000"/>
            <a:ext cx="2852800" cy="39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 b="1">
                <a:solidFill>
                  <a:srgbClr val="0E8C7A"/>
                </a:solidFill>
                <a:effectLst/>
                <a:latin typeface="Georgia" panose="02040502050405020303" pitchFamily="18" charset="0"/>
              </a:rPr>
              <a:t>03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A67E1AB3-DDEE-A880-CF5B-BD73C59333D0}"/>
              </a:ext>
            </a:extLst>
          </p:cNvPr>
          <p:cNvSpPr/>
          <p:nvPr/>
        </p:nvSpPr>
        <p:spPr>
          <a:xfrm>
            <a:off x="8632000" y="2560000"/>
            <a:ext cx="28528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 b="1" spc="2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PREPARE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A1CDCB02-0B1F-2892-4A53-80AD3EBD5761}"/>
              </a:ext>
            </a:extLst>
          </p:cNvPr>
          <p:cNvSpPr/>
          <p:nvPr/>
        </p:nvSpPr>
        <p:spPr>
          <a:xfrm>
            <a:off x="8632000" y="2920000"/>
            <a:ext cx="28528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3C4766"/>
                </a:solidFill>
                <a:effectLst/>
                <a:latin typeface="Calibri" panose="020F0502020204030204" pitchFamily="34" charset="0"/>
              </a:rPr>
              <a:t>A five-step Next Conversation Playbook for the engagement that follows.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AA67755-1A70-F6FD-7F01-CEE243E5916C}"/>
              </a:ext>
            </a:extLst>
          </p:cNvPr>
          <p:cNvSpPr/>
          <p:nvPr/>
        </p:nvSpPr>
        <p:spPr>
          <a:xfrm>
            <a:off x="914400" y="4150000"/>
            <a:ext cx="60000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200">
                <a:solidFill>
                  <a:srgbClr val="5A6690"/>
                </a:solidFill>
                <a:effectLst/>
                <a:latin typeface="Calibri" panose="020F0502020204030204" pitchFamily="34" charset="0"/>
              </a:rPr>
              <a:t>WHAT IT PRODUCES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5D695006-E687-161F-BD64-A8E2F4A590A2}"/>
              </a:ext>
            </a:extLst>
          </p:cNvPr>
          <p:cNvSpPr/>
          <p:nvPr/>
        </p:nvSpPr>
        <p:spPr>
          <a:xfrm>
            <a:off x="914400" y="4540000"/>
            <a:ext cx="6000000" cy="13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3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–  Message gaps as observation, interpretation, recommendation, confidence and limitation</a:t>
            </a:r>
          </a:p>
          <a:p>
            <a:pPr algn="l">
              <a:buNone/>
            </a:pPr>
            <a:r>
              <a:rPr lang="en-US" sz="13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–  Observable conversation signal visualisation</a:t>
            </a:r>
          </a:p>
          <a:p>
            <a:pPr algn="l">
              <a:buNone/>
            </a:pPr>
            <a:r>
              <a:rPr lang="en-US" sz="13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–  Explicit Opportunity Momentum, never a purchase prediction</a:t>
            </a:r>
          </a:p>
          <a:p>
            <a:pPr algn="l">
              <a:buNone/>
            </a:pPr>
            <a:r>
              <a:rPr lang="en-US" sz="13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–  A secondary, evidence-grounded "Ask Reasona" interaction</a:t>
            </a:r>
            <a:endParaRPr lang="en-US"/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5D1D7E57-BD7A-83B3-D9BE-5C14069DDE47}"/>
              </a:ext>
            </a:extLst>
          </p:cNvPr>
          <p:cNvSpPr/>
          <p:nvPr/>
        </p:nvSpPr>
        <p:spPr>
          <a:xfrm>
            <a:off x="7315200" y="4150000"/>
            <a:ext cx="4419600" cy="1850000"/>
          </a:xfrm>
          <a:prstGeom prst="rect">
            <a:avLst/>
          </a:prstGeom>
          <a:solidFill>
            <a:srgbClr val="E4EAF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F796F8F0-CDB7-D196-43FF-DBD9EE718713}"/>
              </a:ext>
            </a:extLst>
          </p:cNvPr>
          <p:cNvSpPr/>
          <p:nvPr/>
        </p:nvSpPr>
        <p:spPr>
          <a:xfrm>
            <a:off x="7615200" y="4350000"/>
            <a:ext cx="38196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200">
                <a:solidFill>
                  <a:srgbClr val="0E8C7A"/>
                </a:solidFill>
                <a:effectLst/>
                <a:latin typeface="Calibri" panose="020F0502020204030204" pitchFamily="34" charset="0"/>
              </a:rPr>
              <a:t>BUILT ON AZURE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DA6351E6-4583-E8BB-4C70-C860B09BB75F}"/>
              </a:ext>
            </a:extLst>
          </p:cNvPr>
          <p:cNvSpPr/>
          <p:nvPr/>
        </p:nvSpPr>
        <p:spPr>
          <a:xfrm>
            <a:off x="7615200" y="4720000"/>
            <a:ext cx="3819600" cy="11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12203F"/>
                </a:solidFill>
                <a:effectLst/>
                <a:latin typeface="Calibri" panose="020F0502020204030204" pitchFamily="34" charset="0"/>
              </a:rPr>
              <a:t>Microsoft Foundry project and deployed model · Microsoft Agent Framework orchestration · Managed identity and Entra ID authentication · Azure-hosted API for transcript ingestion · Tenant-isolated evidence storage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59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 333">
            <a:extLst>
              <a:ext uri="{FF2B5EF4-FFF2-40B4-BE49-F238E27FC236}">
                <a16:creationId xmlns:a16="http://schemas.microsoft.com/office/drawing/2014/main" id="{2EE356B5-664A-6E93-ABD3-B96D2B73F3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330">
              <a:alpha val="72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4AC4EDF4-9F43-33C0-8E95-4F9676AF2C55}"/>
              </a:ext>
            </a:extLst>
          </p:cNvPr>
          <p:cNvSpPr/>
          <p:nvPr/>
        </p:nvSpPr>
        <p:spPr>
          <a:xfrm>
            <a:off x="914400" y="700000"/>
            <a:ext cx="6200000" cy="33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spc="200">
                <a:solidFill>
                  <a:srgbClr val="2FD1B5"/>
                </a:solidFill>
                <a:effectLst/>
                <a:latin typeface="Calibri" panose="020F0502020204030204" pitchFamily="34" charset="0"/>
              </a:rPr>
              <a:t>IN CLOSING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9ABB0175-F6A1-9F17-E109-8E67B630CBF4}"/>
              </a:ext>
            </a:extLst>
          </p:cNvPr>
          <p:cNvSpPr/>
          <p:nvPr/>
        </p:nvSpPr>
        <p:spPr>
          <a:xfrm>
            <a:off x="914400" y="1060000"/>
            <a:ext cx="62000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600" b="1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Responsible by design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AF48412E-26CC-CC81-2879-B28B26AC9804}"/>
              </a:ext>
            </a:extLst>
          </p:cNvPr>
          <p:cNvSpPr/>
          <p:nvPr/>
        </p:nvSpPr>
        <p:spPr>
          <a:xfrm>
            <a:off x="914400" y="2100000"/>
            <a:ext cx="62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Authorised, observable meeting information only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5AC40A25-7034-55FA-55D7-DF6CD174B978}"/>
              </a:ext>
            </a:extLst>
          </p:cNvPr>
          <p:cNvSpPr/>
          <p:nvPr/>
        </p:nvSpPr>
        <p:spPr>
          <a:xfrm>
            <a:off x="914400" y="2440000"/>
            <a:ext cx="620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C3CEE8"/>
                </a:solidFill>
                <a:effectLst/>
                <a:latin typeface="Calibri" panose="020F0502020204030204" pitchFamily="34" charset="0"/>
              </a:rPr>
              <a:t>No inference of emotion, personality, honesty, intelligence, competence, hidden intention, mental health or employee performance.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5A994B86-C9CC-20C1-620C-2D6A0AD734D3}"/>
              </a:ext>
            </a:extLst>
          </p:cNvPr>
          <p:cNvSpPr/>
          <p:nvPr/>
        </p:nvSpPr>
        <p:spPr>
          <a:xfrm>
            <a:off x="914400" y="3160000"/>
            <a:ext cx="62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Evidence, or it is not claimed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4AD9FBEB-AF2F-32CD-D164-9EC38C6D330D}"/>
              </a:ext>
            </a:extLst>
          </p:cNvPr>
          <p:cNvSpPr/>
          <p:nvPr/>
        </p:nvSpPr>
        <p:spPr>
          <a:xfrm>
            <a:off x="914400" y="3500000"/>
            <a:ext cx="620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C3CEE8"/>
                </a:solidFill>
                <a:effectLst/>
                <a:latin typeface="Calibri" panose="020F0502020204030204" pitchFamily="34" charset="0"/>
              </a:rPr>
              <a:t>Every significant claim carries traceable evidence and an explicit limitation.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7AFB46B3-0B4C-E9AF-A9BD-AF72BC0B03F4}"/>
              </a:ext>
            </a:extLst>
          </p:cNvPr>
          <p:cNvSpPr/>
          <p:nvPr/>
        </p:nvSpPr>
        <p:spPr>
          <a:xfrm>
            <a:off x="914400" y="4220000"/>
            <a:ext cx="6200000" cy="34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500" b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 human stays responsible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F4F9D37E-93B6-BE01-F961-A06AF3B13658}"/>
              </a:ext>
            </a:extLst>
          </p:cNvPr>
          <p:cNvSpPr/>
          <p:nvPr/>
        </p:nvSpPr>
        <p:spPr>
          <a:xfrm>
            <a:off x="914400" y="4560000"/>
            <a:ext cx="62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C3CEE8"/>
                </a:solidFill>
                <a:effectLst/>
                <a:latin typeface="Calibri" panose="020F0502020204030204" pitchFamily="34" charset="0"/>
              </a:rPr>
              <a:t>A human remains responsible for decisions and external actions.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F64C9829-4451-66F2-96BA-D57AB89A0B3D}"/>
              </a:ext>
            </a:extLst>
          </p:cNvPr>
          <p:cNvSpPr/>
          <p:nvPr/>
        </p:nvSpPr>
        <p:spPr>
          <a:xfrm>
            <a:off x="914400" y="5120000"/>
            <a:ext cx="6200000" cy="56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i="1">
                <a:solidFill>
                  <a:srgbClr val="A9B6D9"/>
                </a:solidFill>
                <a:effectLst/>
                <a:latin typeface="Calibri" panose="020F0502020204030204" pitchFamily="34" charset="0"/>
              </a:rPr>
              <a:t>The current demo runs a clearly labelled synthetic South African public-sector scenario — all demo data is synthetic.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DDB728AD-3CCE-3993-4ABB-818964B04D41}"/>
              </a:ext>
            </a:extLst>
          </p:cNvPr>
          <p:cNvSpPr/>
          <p:nvPr/>
        </p:nvSpPr>
        <p:spPr>
          <a:xfrm>
            <a:off x="914400" y="5800000"/>
            <a:ext cx="6200000" cy="4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2FD1B5"/>
                </a:solidFill>
                <a:effectLst/>
                <a:latin typeface="Calibri" panose="020F0502020204030204" pitchFamily="34" charset="0"/>
              </a:rPr>
              <a:t>Thank you — questions welcome.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BB3EFDE5-79AA-6BD4-42D8-2D79140C21DC}"/>
              </a:ext>
            </a:extLst>
          </p:cNvPr>
          <p:cNvSpPr/>
          <p:nvPr/>
        </p:nvSpPr>
        <p:spPr>
          <a:xfrm>
            <a:off x="7620000" y="1900000"/>
            <a:ext cx="700000" cy="25400"/>
          </a:xfrm>
          <a:prstGeom prst="rect">
            <a:avLst/>
          </a:prstGeom>
          <a:solidFill>
            <a:srgbClr val="2FD1B5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E50E1256-FEB0-350B-D4FF-245A72A809CC}"/>
              </a:ext>
            </a:extLst>
          </p:cNvPr>
          <p:cNvSpPr/>
          <p:nvPr/>
        </p:nvSpPr>
        <p:spPr>
          <a:xfrm>
            <a:off x="7620000" y="2100000"/>
            <a:ext cx="4114800" cy="19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i="1">
                <a:solidFill>
                  <a:srgbClr val="FFFFFF"/>
                </a:solidFill>
                <a:effectLst/>
                <a:latin typeface="Georgia" panose="02040502050405020303" pitchFamily="18" charset="0"/>
              </a:rPr>
              <a:t>Understand the conversation. Understand the human context. Land the message better.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A49E33ED-8A41-60BB-1D2F-617859F9CE32}"/>
              </a:ext>
            </a:extLst>
          </p:cNvPr>
          <p:cNvSpPr/>
          <p:nvPr/>
        </p:nvSpPr>
        <p:spPr>
          <a:xfrm>
            <a:off x="7620000" y="4250000"/>
            <a:ext cx="4114800" cy="480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Challenge Relevance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C55969CB-1EBB-3E73-CB3E-2D661134C4D4}"/>
              </a:ext>
            </a:extLst>
          </p:cNvPr>
          <p:cNvSpPr/>
          <p:nvPr/>
        </p:nvSpPr>
        <p:spPr>
          <a:xfrm>
            <a:off x="7620000" y="4790000"/>
            <a:ext cx="4114800" cy="480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Reusability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9DD5DDFB-2CE7-F4BB-AAD0-119F7F8CBC65}"/>
              </a:ext>
            </a:extLst>
          </p:cNvPr>
          <p:cNvSpPr/>
          <p:nvPr/>
        </p:nvSpPr>
        <p:spPr>
          <a:xfrm>
            <a:off x="7620000" y="5330000"/>
            <a:ext cx="4114800" cy="480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Impact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0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revision>4</cp:revision>
  <dcterms:created xsi:type="dcterms:W3CDTF">2026-09-30T09:54:52Z</dcterms:created>
  <dcterms:modified xsi:type="dcterms:W3CDTF">2026-09-30T10:05:25Z</dcterms:modified>
  <cp:category/>
</cp:coreProperties>
</file>